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 MEDICINAL CANNABIS — MARKET OPPORTUNITY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2029968" cy="84124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7680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£265M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8328" y="1152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2025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4872" y="713232"/>
            <a:ext cx="2029968" cy="84124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7680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14600" y="1152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patients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81144" y="713232"/>
            <a:ext cx="2029968" cy="84124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7680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+133%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1152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growth 2024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57416" y="713232"/>
            <a:ext cx="2029968" cy="84124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7680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£3,300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67144" y="1152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spend / patient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4206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 MARKET REVENUE (£M)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399178"/>
            <a:ext cx="425196" cy="145390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91540" y="4205326"/>
            <a:ext cx="425196" cy="339242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71600" y="3696462"/>
            <a:ext cx="425196" cy="848106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331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25880" y="3477006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£175M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1660" y="3551072"/>
            <a:ext cx="425196" cy="993496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3337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05940" y="3331616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£205M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31720" y="3260293"/>
            <a:ext cx="425196" cy="1284275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86000" y="3040837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£265M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11780" y="2896819"/>
            <a:ext cx="425196" cy="1647749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9349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66060" y="2677363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£340M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2509114"/>
            <a:ext cx="425196" cy="2035454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2027F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46120" y="2289658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£420M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71900" y="2121408"/>
            <a:ext cx="425196" cy="242316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53612" y="4599432"/>
            <a:ext cx="461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2028F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26180" y="1901952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50008" y="2084832"/>
            <a:ext cx="0" cy="2505456"/>
          </a:xfrm>
          <a:prstGeom prst="line">
            <a:avLst/>
          </a:prstGeom>
          <a:noFill/>
          <a:ln w="6350">
            <a:solidFill>
              <a:srgbClr val="C8D4CC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2377440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→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81728" y="1719072"/>
            <a:ext cx="4233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81728" y="1719072"/>
            <a:ext cx="73152" cy="71323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874520"/>
            <a:ext cx="292608" cy="29260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5138928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unmet demand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138928" y="20208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Health: 3M chronic pain patients eligible. Only ~80K currently treated — under 3% penetration. 41.5% of eligible adults don't know it can be prescribed.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681728" y="2505456"/>
            <a:ext cx="4233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681728" y="2505456"/>
            <a:ext cx="73152" cy="71323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660904"/>
            <a:ext cx="292608" cy="29260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138928" y="2569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market, rapid growth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5138928" y="2807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of prescriptions are private. Market nearly tripled since 2022. No indication growth is slowing — Jan–Feb 2025 alone exceeded 1 tonne of flower volume.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681728" y="3291840"/>
            <a:ext cx="4233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4681728" y="3291840"/>
            <a:ext cx="73152" cy="71323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447288"/>
            <a:ext cx="292608" cy="29260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5138928" y="3355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 largest in Europe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5138928" y="3593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ranks 5th globally behind Germany, Australia, Israel and Canada. At current growth rates, UK will outstrip Israel and Canada by end of 2026.</a:t>
            </a:r>
            <a:endParaRPr lang="en-US" sz="850" dirty="0"/>
          </a:p>
        </p:txBody>
      </p:sp>
      <p:sp>
        <p:nvSpPr>
          <p:cNvPr id="57" name="Shape 52"/>
          <p:cNvSpPr/>
          <p:nvPr/>
        </p:nvSpPr>
        <p:spPr>
          <a:xfrm>
            <a:off x="4681728" y="4078224"/>
            <a:ext cx="4233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4681728" y="4078224"/>
            <a:ext cx="73152" cy="71323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233672"/>
            <a:ext cx="292608" cy="292608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5138928" y="4142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 structural advantage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5138928" y="43799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 existing patients, 5.3M orders, 1,800+ stores, trusted brand. No competitor has access to this distribution and patient base. Lower acquisition cost than any new entrant.</a:t>
            </a:r>
            <a:endParaRPr lang="en-US" sz="850" dirty="0"/>
          </a:p>
        </p:txBody>
      </p:sp>
      <p:sp>
        <p:nvSpPr>
          <p:cNvPr id="62" name="Text 56"/>
          <p:cNvSpPr/>
          <p:nvPr/>
        </p:nvSpPr>
        <p:spPr>
          <a:xfrm>
            <a:off x="228600" y="498348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Prohibition Partners 2025; cannabusinessplans.com; Releaf / hefestus-tech.com 2025; Business of Cannabis FOI Dec 2025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SENSITIVITY — BOOTS ONLINE DOCTOR MARKET SHARE SCENARIOS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402336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£3,300 avg annual revenue per patient  |  2025 market base £265M  |  2028 forecast £500M  |  Patient count indexed to market share of ~80K (2025) and ~141K (2028) active patients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8686800" cy="347472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26187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SHARE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90472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PATIENTS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42032" y="126187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30752" y="126187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MONTHLY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19472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 PATIENTS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71032" y="126187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 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22592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 MONTHLY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74152" y="126187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A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BOOTS TODAY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1581912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0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170078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1700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£5.3M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1700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£440K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170078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1700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0" y="170078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£833K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92440" y="17007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of current BOD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14884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267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2267712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60320" y="2267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£13.3M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49040" y="2267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£1.1M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2267712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2267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2267712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£2.1M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92440" y="22677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current BOD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2715768"/>
            <a:ext cx="8686800" cy="530352"/>
          </a:xfrm>
          <a:prstGeom prst="rect">
            <a:avLst/>
          </a:prstGeom>
          <a:solidFill>
            <a:srgbClr val="EAF2E8"/>
          </a:solidFill>
          <a:ln w="12700">
            <a:solidFill>
              <a:srgbClr val="D0DD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2715768"/>
            <a:ext cx="54864" cy="53035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34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08760" y="283464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560320" y="2834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£26.5M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49040" y="2834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£2.2M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283464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89320" y="2834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40880" y="283464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£4.2M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92440" y="2834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current BOD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8600" y="3282696"/>
            <a:ext cx="8686800" cy="530352"/>
          </a:xfrm>
          <a:prstGeom prst="rect">
            <a:avLst/>
          </a:prstGeom>
          <a:solidFill>
            <a:srgbClr val="EAF2E8"/>
          </a:solidFill>
          <a:ln w="12700">
            <a:solidFill>
              <a:srgbClr val="D0DD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282696"/>
            <a:ext cx="54864" cy="530352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4015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508760" y="34015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560320" y="34015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£53M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749040" y="34015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£4.4M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37760" y="34015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28,200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989320" y="34015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40880" y="34015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£8.3M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92440" y="34015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current BOD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00600" y="1234440"/>
            <a:ext cx="0" cy="2340864"/>
          </a:xfrm>
          <a:prstGeom prst="line">
            <a:avLst/>
          </a:prstGeom>
          <a:noFill/>
          <a:ln w="6350">
            <a:solidFill>
              <a:srgbClr val="B0C4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45920" y="11155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scenarios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29200" y="1115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forecast scenarios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" y="3858768"/>
            <a:ext cx="8686800" cy="960120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28600" y="3858768"/>
            <a:ext cx="8686800" cy="54864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9684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BOOTS ADVANTAGE — WHY THESE NUMBERS ARE CONSERVATIVE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420624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2.4M existing patients and 5.3M orders processed, Boots Online Doctor has patient acquisition economics no competitor can match. Awareness of medical cannabis remains the primary growth constraint — only 41.5% of eligible adults know it can be prescribed. Boots' trusted healthcare brand removes the cold-start problem entirely. A 10% market share by year 3 is achievable; a 20% share by 2028 (£100M revenue) is realistic with the right clinical infrastructure and category investment.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28600" y="497433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Avg annual patient spend £3,300 (Cannabis Business Times / Prohibition Partners 2024).  ² 2028 forecast: cannabusinessplans.com.  ³ Current BOD revenue £175M+ (2025).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TO MANAGE FOR LAUNCH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4224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41248"/>
            <a:ext cx="585216" cy="201168"/>
          </a:xfrm>
          <a:prstGeom prst="rect">
            <a:avLst>
              <a:gd name="adj" fmla="val 18182"/>
            </a:avLst>
          </a:prstGeom>
          <a:solidFill>
            <a:srgbClr val="FDE8E2"/>
          </a:solidFill>
          <a:ln w="12700">
            <a:solidFill>
              <a:srgbClr val="FDE8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4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155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CQC registration &amp; GMC prescriber recruitment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" y="14264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CQC registration takes 3–6 months and must be in place before patient one. Only ~160 GMC Specialist Register prescribers exist across all UK clinics — recruiting a Medical Director is the most time-critical hire. Both must be initiated before any commercial commitments are made.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3440" y="749808"/>
            <a:ext cx="4224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841248"/>
            <a:ext cx="585216" cy="201168"/>
          </a:xfrm>
          <a:prstGeom prst="rect">
            <a:avLst>
              <a:gd name="adj" fmla="val 18182"/>
            </a:avLst>
          </a:prstGeom>
          <a:solidFill>
            <a:srgbClr val="FDE8E2"/>
          </a:solidFill>
          <a:ln w="12700">
            <a:solidFill>
              <a:srgbClr val="FDE8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4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1556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65776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 brand — reputation firewall needed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54880" y="14264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carries stigma that conflicts with the Boots family pharmacy brand. Recommend launching under a distinct brand (e.g. B Leaf, powered by Boots Online Doctor) to firewall reputational risk while retaining the patient base, pharmacy distribution, and clinical infrastructure advantages.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01168" y="2231136"/>
            <a:ext cx="4224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92608" y="2322576"/>
            <a:ext cx="585216" cy="201168"/>
          </a:xfrm>
          <a:prstGeom prst="rect">
            <a:avLst>
              <a:gd name="adj" fmla="val 18182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2608" y="23225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7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7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59689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" y="2560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Advertising and marketing restrictions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92608" y="29077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'cannabis' cannot be used directly in advertising. Marketing must focus on conditions (chronic pain, anxiety, sleep) and care pathways. Boots' existing SEO authority for healthcare conditions is a major advantage — no competitor has the same organic search presence for chronic condition care.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663440" y="2231136"/>
            <a:ext cx="4224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322576"/>
            <a:ext cx="585216" cy="201168"/>
          </a:xfrm>
          <a:prstGeom prst="rect">
            <a:avLst>
              <a:gd name="adj" fmla="val 18182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54880" y="23225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7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7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59689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65776" y="2560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governance — MDT, peer review and CQC compliance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754880" y="29077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prescription requires peer review. Consultation minimums, Summary Care Record access, and MDT sign-off are CQC requirements. Under-investing here is the most common failure mode for new entrants. Boots Online Doctor's existing CQC-rated governance is directly transferable.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201168" y="3712464"/>
            <a:ext cx="4224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92608" y="3803904"/>
            <a:ext cx="585216" cy="201168"/>
          </a:xfrm>
          <a:prstGeom prst="rect">
            <a:avLst>
              <a:gd name="adj" fmla="val 18182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92608" y="380390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7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7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07822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03504" y="40416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and import licensing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292608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 Home Office import licences required per product. Stock shortages are endemic across existing clinics. A pharmacy dispensing partner must be confirmed before launch — Boots' existing 1,800+ pharmacy network is a structural advantage no competitor can replicate.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4663440" y="3712464"/>
            <a:ext cx="4224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54880" y="3803904"/>
            <a:ext cx="804672" cy="201168"/>
          </a:xfrm>
          <a:prstGeom prst="rect">
            <a:avLst>
              <a:gd name="adj" fmla="val 18182"/>
            </a:avLst>
          </a:prstGeom>
          <a:solidFill>
            <a:srgbClr val="E8F4E0"/>
          </a:solidFill>
          <a:ln w="12700">
            <a:solidFill>
              <a:srgbClr val="E8F4E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754880" y="38039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6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MANAGEABLE</a:t>
            </a:r>
            <a:endParaRPr lang="en-US" sz="7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78224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065776" y="40416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evolution and market consolidation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475488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MCCS March 2026 guidance signals increasing CQC scrutiny. This is a net positive for a quality operator — weaker clinics will face pressure while well-governed platforms benefit from consolidation. Releaf dominates on patient satisfaction; gaps in competitor quality create genuine switching opportunity.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201168" y="4974336"/>
            <a:ext cx="8741664" cy="146304"/>
          </a:xfrm>
          <a:prstGeom prst="rect">
            <a:avLst/>
          </a:prstGeom>
          <a:solidFill>
            <a:srgbClr val="F2EFE8"/>
          </a:solidFill>
          <a:ln w="12700">
            <a:solidFill>
              <a:srgbClr val="F2EFE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28600" y="498348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MCCS Good Practice Guide March 2026; CQC registration guidance; Prohibition Partners UK market overview 2025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Medicinal Cannabis — Market Opportunity</dc:title>
  <dc:subject>PptxGenJS Presentation</dc:subject>
  <dc:creator>PptxGenJS</dc:creator>
  <cp:lastModifiedBy>PptxGenJS</cp:lastModifiedBy>
  <cp:revision>1</cp:revision>
  <dcterms:created xsi:type="dcterms:W3CDTF">2026-04-22T21:10:16Z</dcterms:created>
  <dcterms:modified xsi:type="dcterms:W3CDTF">2026-04-22T21:10:16Z</dcterms:modified>
</cp:coreProperties>
</file>